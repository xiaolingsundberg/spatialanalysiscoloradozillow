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69848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400" b="1">
                <a:solidFill>
                  <a:srgbClr val="1F4E79"/>
                </a:solidFill>
                <a:latin typeface="Aptos"/>
              </a:rPr>
              <a:t>Spatial Analysis of Colorado Zillow Housing Listings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57400"/>
            <a:ext cx="996696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0">
                <a:solidFill>
                  <a:srgbClr val="606060"/>
                </a:solidFill>
                <a:latin typeface="Aptos"/>
              </a:rPr>
              <a:t>Mapping, regression, nearest-neighbor analysis, clustering, and interactive Leaflet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3246120"/>
            <a:ext cx="2103120" cy="841248"/>
          </a:xfrm>
          <a:prstGeom prst="rect">
            <a:avLst/>
          </a:prstGeom>
          <a:solidFill>
            <a:srgbClr val="F2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3337560"/>
            <a:ext cx="19202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Aptos"/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721608"/>
            <a:ext cx="1920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606060"/>
                </a:solidFill>
                <a:latin typeface="Aptos"/>
              </a:rPr>
              <a:t>cleaned listings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246120"/>
            <a:ext cx="2103120" cy="841248"/>
          </a:xfrm>
          <a:prstGeom prst="rect">
            <a:avLst/>
          </a:prstGeom>
          <a:solidFill>
            <a:srgbClr val="F2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3337560"/>
            <a:ext cx="19202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30A078"/>
                </a:solidFill>
                <a:latin typeface="Aptos"/>
              </a:rPr>
              <a:t>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3721608"/>
            <a:ext cx="1920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606060"/>
                </a:solidFill>
                <a:latin typeface="Aptos"/>
              </a:rPr>
              <a:t>cities represented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3246120"/>
            <a:ext cx="2103120" cy="841248"/>
          </a:xfrm>
          <a:prstGeom prst="rect">
            <a:avLst/>
          </a:prstGeom>
          <a:solidFill>
            <a:srgbClr val="F2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337560"/>
            <a:ext cx="19202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F2912C"/>
                </a:solidFill>
                <a:latin typeface="Aptos"/>
              </a:rPr>
              <a:t>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721608"/>
            <a:ext cx="1920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606060"/>
                </a:solidFill>
                <a:latin typeface="Aptos"/>
              </a:rPr>
              <a:t>ZIP codes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106984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606060"/>
                </a:solidFill>
                <a:latin typeface="Aptos"/>
              </a:rPr>
              <a:t>Xiaoling Sundberg | STA6709 Spatial Statistics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6473952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06060"/>
                </a:solidFill>
                <a:latin typeface="Aptos"/>
              </a:rPr>
              <a:t>STA6709 Spatial Statistics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ptos"/>
              </a:rP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Aptos"/>
              </a:rPr>
              <a:t>Use spatial methods to understand where listings are located and how prices vary.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18520" cy="18288"/>
          </a:xfrm>
          <a:prstGeom prst="rect">
            <a:avLst/>
          </a:prstGeom>
          <a:solidFill>
            <a:srgbClr val="D2DCE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1F1F"/>
                </a:solidFill>
                <a:latin typeface="Aptos"/>
              </a:defRPr>
            </a:pPr>
            <a:r>
              <a:t>Treat Zillow listings as spatial points using latitude and longitude.</a:t>
            </a:r>
          </a:p>
          <a:p>
            <a:pPr>
              <a:spcAft>
                <a:spcPts val="1000"/>
              </a:spcAft>
              <a:defRPr sz="1900">
                <a:solidFill>
                  <a:srgbClr val="1F1F1F"/>
                </a:solidFill>
                <a:latin typeface="Aptos"/>
              </a:defRPr>
            </a:pPr>
            <a:r>
              <a:t>Map listings within Colorado state and county polygon boundaries.</a:t>
            </a:r>
          </a:p>
          <a:p>
            <a:pPr>
              <a:spcAft>
                <a:spcPts val="1000"/>
              </a:spcAft>
              <a:defRPr sz="1900">
                <a:solidFill>
                  <a:srgbClr val="1F1F1F"/>
                </a:solidFill>
                <a:latin typeface="Aptos"/>
              </a:defRPr>
            </a:pPr>
            <a:r>
              <a:t>Use regression to evaluate how price relates to housing characteristics and location.</a:t>
            </a:r>
          </a:p>
          <a:p>
            <a:pPr>
              <a:spcAft>
                <a:spcPts val="1000"/>
              </a:spcAft>
              <a:defRPr sz="1900">
                <a:solidFill>
                  <a:srgbClr val="1F1F1F"/>
                </a:solidFill>
                <a:latin typeface="Aptos"/>
              </a:defRPr>
            </a:pPr>
            <a:r>
              <a:t>Use nearest-neighbor and cluster analysis to assess whether listings are random or geographically concentrated.</a:t>
            </a:r>
          </a:p>
          <a:p>
            <a:pPr>
              <a:spcAft>
                <a:spcPts val="1000"/>
              </a:spcAft>
              <a:defRPr sz="1900">
                <a:solidFill>
                  <a:srgbClr val="1F1F1F"/>
                </a:solidFill>
                <a:latin typeface="Aptos"/>
              </a:defRPr>
            </a:pPr>
            <a:r>
              <a:t>Create an interactive Leaflet map for exploring individual listings.</a:t>
            </a:r>
          </a:p>
        </p:txBody>
      </p:sp>
      <p:pic>
        <p:nvPicPr>
          <p:cNvPr id="6" name="Picture 5" descr="figure1_colorado_boundary_house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4846320" cy="34278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78440" y="6473952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06060"/>
                </a:solidFill>
                <a:latin typeface="Aptos"/>
              </a:rPr>
              <a:t>STA6709 Spatial Statistics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ptos"/>
              </a:rPr>
              <a:t>Dataset and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Aptos"/>
              </a:rPr>
              <a:t>The data were cleaned before mapping, modeling, and spatial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18520" cy="18288"/>
          </a:xfrm>
          <a:prstGeom prst="rect">
            <a:avLst/>
          </a:prstGeom>
          <a:solidFill>
            <a:srgbClr val="D2DCE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417320"/>
          <a:ext cx="50749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460"/>
                <a:gridCol w="2537460"/>
              </a:tblGrid>
              <a:tr h="4434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45720" marR="45720" marT="27432" marB="27432">
                    <a:solidFill>
                      <a:srgbClr val="D8E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 marL="45720" marR="45720" marT="27432" marB="27432">
                    <a:solidFill>
                      <a:srgbClr val="D8E0E8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Number of listings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123</a:t>
                      </a:r>
                    </a:p>
                  </a:txBody>
                  <a:tcPr marL="45720" marR="45720" marT="27432" marB="27432"/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Number of cities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44</a:t>
                      </a:r>
                    </a:p>
                  </a:txBody>
                  <a:tcPr marL="45720" marR="45720" marT="27432" marB="27432"/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Number of ZIP codes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82</a:t>
                      </a:r>
                    </a:p>
                  </a:txBody>
                  <a:tcPr marL="45720" marR="45720" marT="27432" marB="27432"/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Minimum price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$49,999</a:t>
                      </a:r>
                    </a:p>
                  </a:txBody>
                  <a:tcPr marL="45720" marR="45720" marT="27432" marB="27432"/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Median price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$635,000</a:t>
                      </a:r>
                    </a:p>
                  </a:txBody>
                  <a:tcPr marL="45720" marR="45720" marT="27432" marB="27432"/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Mean price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$3,972,322</a:t>
                      </a:r>
                    </a:p>
                  </a:txBody>
                  <a:tcPr marL="45720" marR="45720" marT="27432" marB="27432"/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Maximum price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$300,000,000</a:t>
                      </a:r>
                    </a:p>
                  </a:txBody>
                  <a:tcPr marL="45720" marR="45720" marT="27432" marB="27432"/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Median area square feet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2,540</a:t>
                      </a:r>
                    </a:p>
                  </a:txBody>
                  <a:tcPr marL="45720" marR="45720" marT="27432" marB="27432"/>
                </a:tc>
              </a:tr>
              <a:tr h="4434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Median price per square foot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$254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72200" y="1600200"/>
            <a:ext cx="5257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  <a:latin typeface="Aptos"/>
              </a:defRPr>
            </a:pPr>
            <a:r>
              <a:t>Duplicate listing IDs were removed.</a:t>
            </a:r>
          </a:p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  <a:latin typeface="Aptos"/>
              </a:defRPr>
            </a:pPr>
            <a:r>
              <a:t>Records with missing price, coordinates, beds, baths, or square footage were excluded.</a:t>
            </a:r>
          </a:p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  <a:latin typeface="Aptos"/>
              </a:defRPr>
            </a:pPr>
            <a:r>
              <a:t>Price per square foot and log price were created for analysis.</a:t>
            </a:r>
          </a:p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  <a:latin typeface="Aptos"/>
              </a:defRPr>
            </a:pPr>
            <a:r>
              <a:t>Coordinates were checked to keep listings inside a reasonable Colorado range.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73952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06060"/>
                </a:solidFill>
                <a:latin typeface="Aptos"/>
              </a:rPr>
              <a:t>STA6709 Spatial Statistics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ptos"/>
              </a:rPr>
              <a:t>Exploratory Summary: Price Is Highly Skewed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Aptos"/>
              </a:rPr>
              <a:t>A small number of luxury listings strongly affects the mean.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18520" cy="18288"/>
          </a:xfrm>
          <a:prstGeom prst="rect">
            <a:avLst/>
          </a:prstGeom>
          <a:solidFill>
            <a:srgbClr val="D2DCE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4_price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257800" cy="3154680"/>
          </a:xfrm>
          <a:prstGeom prst="rect">
            <a:avLst/>
          </a:prstGeom>
        </p:spPr>
      </p:pic>
      <p:pic>
        <p:nvPicPr>
          <p:cNvPr id="6" name="Picture 5" descr="figure5_price_by_ar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57800" cy="37856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852160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1F1F1F"/>
                </a:solidFill>
                <a:latin typeface="Aptos"/>
              </a:rPr>
              <a:t>Most listings fall in moderate price ranges, but a few very high-value homes create a long right tail. This is why log listing price was used in the regression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8440" y="6473952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06060"/>
                </a:solidFill>
                <a:latin typeface="Aptos"/>
              </a:rPr>
              <a:t>STA6709 Spatial Statistics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ptos"/>
              </a:rPr>
              <a:t>Listings Are Concentrated Along the Front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Aptos"/>
              </a:rPr>
              <a:t>The map shows a strong geographic concentration rather than an even statewide pattern.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18520" cy="18288"/>
          </a:xfrm>
          <a:prstGeom prst="rect">
            <a:avLst/>
          </a:prstGeom>
          <a:solidFill>
            <a:srgbClr val="D2DCE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2_county_boundary_house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5715000" cy="40423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1691640"/>
            <a:ext cx="47091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1F1F"/>
                </a:solidFill>
                <a:latin typeface="Aptos"/>
              </a:defRPr>
            </a:pPr>
            <a:r>
              <a:t>Listings are concentrated near Denver, Colorado Springs, Boulder, and surrounding communities.</a:t>
            </a:r>
          </a:p>
          <a:p>
            <a:pPr>
              <a:spcAft>
                <a:spcPts val="1000"/>
              </a:spcAft>
              <a:defRPr sz="1900">
                <a:solidFill>
                  <a:srgbClr val="1F1F1F"/>
                </a:solidFill>
                <a:latin typeface="Aptos"/>
              </a:defRPr>
            </a:pPr>
            <a:r>
              <a:t>County polygons provide geographic context for the listing points.</a:t>
            </a:r>
          </a:p>
          <a:p>
            <a:pPr>
              <a:spcAft>
                <a:spcPts val="1000"/>
              </a:spcAft>
              <a:defRPr sz="1900">
                <a:solidFill>
                  <a:srgbClr val="1F1F1F"/>
                </a:solidFill>
                <a:latin typeface="Aptos"/>
              </a:defRPr>
            </a:pPr>
            <a:r>
              <a:t>The spatial pattern suggests housing data should be interpreted geographically, not only numerically.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73952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06060"/>
                </a:solidFill>
                <a:latin typeface="Aptos"/>
              </a:rPr>
              <a:t>STA6709 Spatial Statistics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ptos"/>
              </a:rPr>
              <a:t>Home Type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Aptos"/>
              </a:rPr>
              <a:t>Single-family homes dominate the sample, so smaller groups should be interpreted cautiously.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18520" cy="18288"/>
          </a:xfrm>
          <a:prstGeom prst="rect">
            <a:avLst/>
          </a:prstGeom>
          <a:solidFill>
            <a:srgbClr val="D2DCE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3_home_typ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760720" cy="407465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12280" y="1600200"/>
          <a:ext cx="42976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1074420"/>
                <a:gridCol w="1074420"/>
                <a:gridCol w="1074420"/>
              </a:tblGrid>
              <a:tr h="35433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Home Type</a:t>
                      </a:r>
                    </a:p>
                  </a:txBody>
                  <a:tcPr marL="45720" marR="45720" marT="27432" marB="27432">
                    <a:solidFill>
                      <a:srgbClr val="D8E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Listings</a:t>
                      </a:r>
                    </a:p>
                  </a:txBody>
                  <a:tcPr marL="45720" marR="45720" marT="27432" marB="27432">
                    <a:solidFill>
                      <a:srgbClr val="D8E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Median Price</a:t>
                      </a:r>
                    </a:p>
                  </a:txBody>
                  <a:tcPr marL="45720" marR="45720" marT="27432" marB="27432">
                    <a:solidFill>
                      <a:srgbClr val="D8E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Median Area</a:t>
                      </a:r>
                    </a:p>
                  </a:txBody>
                  <a:tcPr marL="45720" marR="45720" marT="27432" marB="27432">
                    <a:solidFill>
                      <a:srgbClr val="D8E0E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Single-family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113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$650,000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2,583</a:t>
                      </a:r>
                    </a:p>
                  </a:txBody>
                  <a:tcPr marL="45720" marR="45720" marT="27432" marB="27432"/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Condo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$375,000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1,201</a:t>
                      </a:r>
                    </a:p>
                  </a:txBody>
                  <a:tcPr marL="45720" marR="45720" marT="27432" marB="27432"/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Townhouse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$585,000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1,780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12280" y="3337560"/>
            <a:ext cx="4297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1F1F"/>
                </a:solidFill>
                <a:latin typeface="Aptos"/>
              </a:defRPr>
            </a:pPr>
            <a:r>
              <a:t>The transparent single-family layer keeps condos and townhouses visible.</a:t>
            </a:r>
          </a:p>
          <a:p>
            <a:pPr>
              <a:spcAft>
                <a:spcPts val="1000"/>
              </a:spcAft>
              <a:defRPr sz="1700">
                <a:solidFill>
                  <a:srgbClr val="1F1F1F"/>
                </a:solidFill>
                <a:latin typeface="Aptos"/>
              </a:defRPr>
            </a:pPr>
            <a:r>
              <a:t>Small condo and townhouse counts mean their summary statistics are less stable.</a:t>
            </a:r>
          </a:p>
          <a:p>
            <a:pPr>
              <a:spcAft>
                <a:spcPts val="1000"/>
              </a:spcAft>
              <a:defRPr sz="1700">
                <a:solidFill>
                  <a:srgbClr val="1F1F1F"/>
                </a:solidFill>
                <a:latin typeface="Aptos"/>
              </a:defRPr>
            </a:pPr>
            <a:r>
              <a:t>Home type was included as a predictor in the regression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8440" y="6473952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06060"/>
                </a:solidFill>
                <a:latin typeface="Aptos"/>
              </a:rPr>
              <a:t>STA6709 Spatial Statistics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ptos"/>
              </a:rPr>
              <a:t>Regression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Aptos"/>
              </a:rPr>
              <a:t>Log listing price was modeled using property characteristics and location.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18520" cy="18288"/>
          </a:xfrm>
          <a:prstGeom prst="rect">
            <a:avLst/>
          </a:prstGeom>
          <a:solidFill>
            <a:srgbClr val="D2DCE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52120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</a:tblGrid>
              <a:tr h="4724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marL="45720" marR="45720" marT="27432" marB="27432">
                    <a:solidFill>
                      <a:srgbClr val="D8E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Estimate</a:t>
                      </a:r>
                    </a:p>
                  </a:txBody>
                  <a:tcPr marL="45720" marR="45720" marT="27432" marB="27432">
                    <a:solidFill>
                      <a:srgbClr val="D8E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p-value</a:t>
                      </a:r>
                    </a:p>
                  </a:txBody>
                  <a:tcPr marL="45720" marR="45720" marT="27432" marB="27432">
                    <a:solidFill>
                      <a:srgbClr val="D8E0E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Beds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-0.020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0.6751</a:t>
                      </a:r>
                    </a:p>
                  </a:txBody>
                  <a:tcPr marL="45720" marR="45720" marT="27432" marB="27432"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Baths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0.111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0.0432</a:t>
                      </a:r>
                    </a:p>
                  </a:txBody>
                  <a:tcPr marL="45720" marR="45720" marT="27432" marB="27432"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Area Sq Ft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0.000195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&lt;0.001</a:t>
                      </a:r>
                    </a:p>
                  </a:txBody>
                  <a:tcPr marL="45720" marR="45720" marT="27432" marB="27432"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Single Family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0.442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0.0486</a:t>
                      </a:r>
                    </a:p>
                  </a:txBody>
                  <a:tcPr marL="45720" marR="45720" marT="27432" marB="27432"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Townhouse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0.435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0.1498</a:t>
                      </a:r>
                    </a:p>
                  </a:txBody>
                  <a:tcPr marL="45720" marR="45720" marT="27432" marB="27432"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Days on Zillow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-0.00477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0.0001</a:t>
                      </a:r>
                    </a:p>
                  </a:txBody>
                  <a:tcPr marL="45720" marR="45720" marT="27432" marB="27432"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Latitude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0.163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0.0236</a:t>
                      </a:r>
                    </a:p>
                  </a:txBody>
                  <a:tcPr marL="45720" marR="45720" marT="27432" marB="27432"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Longitude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-0.437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&lt;0.001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55080" y="1645920"/>
            <a:ext cx="50749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1F1F"/>
                </a:solidFill>
                <a:latin typeface="Aptos"/>
              </a:defRPr>
            </a:pPr>
            <a:r>
              <a:t>Square footage, bathrooms, days on Zillow, latitude, and longitude were meaningful predictors.</a:t>
            </a:r>
          </a:p>
          <a:p>
            <a:pPr>
              <a:spcAft>
                <a:spcPts val="1000"/>
              </a:spcAft>
              <a:defRPr sz="1900">
                <a:solidFill>
                  <a:srgbClr val="1F1F1F"/>
                </a:solidFill>
                <a:latin typeface="Aptos"/>
              </a:defRPr>
            </a:pPr>
            <a:r>
              <a:t>The location coefficients show that geography remained important even after adding property characteristics.</a:t>
            </a:r>
          </a:p>
          <a:p>
            <a:pPr>
              <a:spcAft>
                <a:spcPts val="1000"/>
              </a:spcAft>
              <a:defRPr sz="1900">
                <a:solidFill>
                  <a:srgbClr val="1F1F1F"/>
                </a:solidFill>
                <a:latin typeface="Aptos"/>
              </a:defRPr>
            </a:pPr>
            <a:r>
              <a:t>Using log price helped reduce the influence of extreme listing prices.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73952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06060"/>
                </a:solidFill>
                <a:latin typeface="Aptos"/>
              </a:rPr>
              <a:t>STA6709 Spatial Statistics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ptos"/>
              </a:rPr>
              <a:t>Regression Residuals by 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Aptos"/>
              </a:rPr>
              <a:t>Residual mapping shows where the model overpredicts or underpredicts price geographically.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18520" cy="18288"/>
          </a:xfrm>
          <a:prstGeom prst="rect">
            <a:avLst/>
          </a:prstGeom>
          <a:solidFill>
            <a:srgbClr val="D2DCE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6_regression_residua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5715000" cy="40423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169164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  <a:latin typeface="Aptos"/>
              </a:defRPr>
            </a:pPr>
            <a:r>
              <a:t>Positive residuals mean actual price was higher than predicted.</a:t>
            </a:r>
          </a:p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  <a:latin typeface="Aptos"/>
              </a:defRPr>
            </a:pPr>
            <a:r>
              <a:t>Negative residuals mean actual price was lower than predicted.</a:t>
            </a:r>
          </a:p>
          <a:p>
            <a:pPr>
              <a:spcAft>
                <a:spcPts val="1000"/>
              </a:spcAft>
              <a:defRPr sz="1800">
                <a:solidFill>
                  <a:srgbClr val="1F1F1F"/>
                </a:solidFill>
                <a:latin typeface="Aptos"/>
              </a:defRPr>
            </a:pPr>
            <a:r>
              <a:t>Large residuals may reflect factors not in the model, such as views, neighborhood quality, school zones, or luxury amenities.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78440" y="6473952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06060"/>
                </a:solidFill>
                <a:latin typeface="Aptos"/>
              </a:rPr>
              <a:t>STA6709 Spatial Statistics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ptos"/>
              </a:rPr>
              <a:t>Nearest-Neighbor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Aptos"/>
              </a:rPr>
              <a:t>Listings are closer together than expected under complete spatial randomness.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18520" cy="18288"/>
          </a:xfrm>
          <a:prstGeom prst="rect">
            <a:avLst/>
          </a:prstGeom>
          <a:solidFill>
            <a:srgbClr val="D2DCE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4343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171700"/>
              </a:tblGrid>
              <a:tr h="4180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45720" marR="45720" marT="27432" marB="27432">
                    <a:solidFill>
                      <a:srgbClr val="D8E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 marL="45720" marR="45720" marT="27432" marB="27432">
                    <a:solidFill>
                      <a:srgbClr val="D8E0E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Listings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123</a:t>
                      </a:r>
                    </a:p>
                  </a:txBody>
                  <a:tcPr marL="45720" marR="45720" marT="27432" marB="27432"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Study area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81,832.085 sq km</a:t>
                      </a:r>
                    </a:p>
                  </a:txBody>
                  <a:tcPr marL="45720" marR="45720" marT="27432" marB="27432"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Observed mean NN distance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8.356 km</a:t>
                      </a:r>
                    </a:p>
                  </a:txBody>
                  <a:tcPr marL="45720" marR="45720" marT="27432" marB="27432"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Expected mean NN distance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12.897 km</a:t>
                      </a:r>
                    </a:p>
                  </a:txBody>
                  <a:tcPr marL="45720" marR="45720" marT="27432" marB="27432"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Nearest-neighbor index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0.648</a:t>
                      </a:r>
                    </a:p>
                  </a:txBody>
                  <a:tcPr marL="45720" marR="45720" marT="27432" marB="27432"/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Interpretation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Clustered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pic>
        <p:nvPicPr>
          <p:cNvPr id="6" name="Picture 5" descr="figure7_nearest_neighbor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234440"/>
            <a:ext cx="6035040" cy="38624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709160"/>
            <a:ext cx="38862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Aptos"/>
              </a:rPr>
              <a:t>Because the index is less than 1, the listings are spatially clustered rather than randomly distributed.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8440" y="6473952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06060"/>
                </a:solidFill>
                <a:latin typeface="Aptos"/>
              </a:rPr>
              <a:t>STA6709 Spatial Statistics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ptos"/>
              </a:rPr>
              <a:t>Spatial Cluster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Aptos"/>
              </a:rPr>
              <a:t>Coordinate-based clusters summarize regional listing groups.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18520" cy="18288"/>
          </a:xfrm>
          <a:prstGeom prst="rect">
            <a:avLst/>
          </a:prstGeom>
          <a:solidFill>
            <a:srgbClr val="D2DCE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8_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98448"/>
            <a:ext cx="5440680" cy="384828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55080" y="1508760"/>
          <a:ext cx="5120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Cluster</a:t>
                      </a:r>
                    </a:p>
                  </a:txBody>
                  <a:tcPr marL="45720" marR="45720" marT="27432" marB="27432">
                    <a:solidFill>
                      <a:srgbClr val="D8E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Count</a:t>
                      </a:r>
                    </a:p>
                  </a:txBody>
                  <a:tcPr marL="45720" marR="45720" marT="27432" marB="27432">
                    <a:solidFill>
                      <a:srgbClr val="D8E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Median Price</a:t>
                      </a:r>
                    </a:p>
                  </a:txBody>
                  <a:tcPr marL="45720" marR="45720" marT="27432" marB="27432">
                    <a:solidFill>
                      <a:srgbClr val="D8E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Approx. Location</a:t>
                      </a:r>
                    </a:p>
                  </a:txBody>
                  <a:tcPr marL="45720" marR="45720" marT="27432" marB="27432">
                    <a:solidFill>
                      <a:srgbClr val="D8E0E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I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$460,000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Southern CO / Colorado Springs</a:t>
                      </a:r>
                    </a:p>
                  </a:txBody>
                  <a:tcPr marL="45720" marR="45720" marT="27432" marB="27432"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II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$75,000,000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Mountain / luxury listings</a:t>
                      </a:r>
                    </a:p>
                  </a:txBody>
                  <a:tcPr marL="45720" marR="45720" marT="27432" marB="27432"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III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72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$662,500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Denver &amp; central Front Range</a:t>
                      </a:r>
                    </a:p>
                  </a:txBody>
                  <a:tcPr marL="45720" marR="45720" marT="27432" marB="27432"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IV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$650,000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1F1F"/>
                          </a:solidFill>
                          <a:latin typeface="Aptos"/>
                        </a:defRPr>
                      </a:pPr>
                      <a:r>
                        <a:t>Northern Front Range / Boulder</a:t>
                      </a:r>
                    </a:p>
                  </a:txBody>
                  <a:tcPr marL="45720" marR="45720" marT="27432" marB="27432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37960" y="4069080"/>
            <a:ext cx="4617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1F1F"/>
                </a:solidFill>
                <a:latin typeface="Aptos"/>
              </a:defRPr>
            </a:pPr>
            <a:r>
              <a:t>The largest cluster is around Denver and the central Front Range.</a:t>
            </a:r>
          </a:p>
          <a:p>
            <a:pPr>
              <a:spcAft>
                <a:spcPts val="1000"/>
              </a:spcAft>
              <a:defRPr sz="1700">
                <a:solidFill>
                  <a:srgbClr val="1F1F1F"/>
                </a:solidFill>
                <a:latin typeface="Aptos"/>
              </a:defRPr>
            </a:pPr>
            <a:r>
              <a:t>The small luxury cluster has very high prices but only three listings.</a:t>
            </a:r>
          </a:p>
          <a:p>
            <a:pPr>
              <a:spcAft>
                <a:spcPts val="1000"/>
              </a:spcAft>
              <a:defRPr sz="1700">
                <a:solidFill>
                  <a:srgbClr val="1F1F1F"/>
                </a:solidFill>
                <a:latin typeface="Aptos"/>
              </a:defRPr>
            </a:pPr>
            <a:r>
              <a:t>Clusters help connect price patterns to regional geography.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8440" y="6473952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06060"/>
                </a:solidFill>
                <a:latin typeface="Aptos"/>
              </a:rPr>
              <a:t>STA6709 Spatial Statistics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ptos"/>
              </a:rPr>
              <a:t>Interactive Leaflet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Aptos"/>
              </a:rPr>
              <a:t>The final HTML map allows viewers to inspect individual listings.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18520" cy="18288"/>
          </a:xfrm>
          <a:prstGeom prst="rect">
            <a:avLst/>
          </a:prstGeom>
          <a:solidFill>
            <a:srgbClr val="D2DCE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5440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1F1F"/>
                </a:solidFill>
                <a:latin typeface="Aptos"/>
              </a:defRPr>
            </a:pPr>
            <a:r>
              <a:t>Shows Colorado boundary, county polygons, and Zillow listing points.</a:t>
            </a:r>
          </a:p>
          <a:p>
            <a:pPr>
              <a:spcAft>
                <a:spcPts val="1000"/>
              </a:spcAft>
              <a:defRPr sz="1900">
                <a:solidFill>
                  <a:srgbClr val="1F1F1F"/>
                </a:solidFill>
                <a:latin typeface="Aptos"/>
              </a:defRPr>
            </a:pPr>
            <a:r>
              <a:t>Popups include address, city, actual price, predicted price, residual, home type, beds, baths, area, and cluster.</a:t>
            </a:r>
          </a:p>
          <a:p>
            <a:pPr>
              <a:spcAft>
                <a:spcPts val="1000"/>
              </a:spcAft>
              <a:defRPr sz="1900">
                <a:solidFill>
                  <a:srgbClr val="1F1F1F"/>
                </a:solidFill>
                <a:latin typeface="Aptos"/>
              </a:defRPr>
            </a:pPr>
            <a:r>
              <a:t>Submitted separately as a zipped HTML map so it can be opened in a web browser.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0840" y="1600200"/>
            <a:ext cx="4160520" cy="2423160"/>
          </a:xfrm>
          <a:prstGeom prst="rect">
            <a:avLst/>
          </a:prstGeom>
          <a:solidFill>
            <a:srgbClr val="F2F6F9"/>
          </a:solidFill>
          <a:ln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95160" y="1874519"/>
            <a:ext cx="36118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Aptos"/>
              </a:rPr>
              <a:t>Submitted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2331720"/>
            <a:ext cx="36118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1F1F1F"/>
                </a:solidFill>
                <a:latin typeface="Aptos"/>
              </a:rPr>
              <a:t>colorado_zillow_interactive_map_SUBMIT.zip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3063240"/>
            <a:ext cx="36118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0">
                <a:solidFill>
                  <a:srgbClr val="606060"/>
                </a:solidFill>
                <a:latin typeface="Aptos"/>
              </a:rPr>
              <a:t>Unzip, then open colorado_zillow_complete_interactive_map.html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473952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06060"/>
                </a:solidFill>
                <a:latin typeface="Aptos"/>
              </a:rPr>
              <a:t>STA6709 Spatial Statistics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Aptos"/>
              </a:rPr>
              <a:t>Spatial analysis added insight that tables alone could not show.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018520" cy="18288"/>
          </a:xfrm>
          <a:prstGeom prst="rect">
            <a:avLst/>
          </a:prstGeom>
          <a:solidFill>
            <a:srgbClr val="D2DCE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2103120" cy="841248"/>
          </a:xfrm>
          <a:prstGeom prst="rect">
            <a:avLst/>
          </a:prstGeom>
          <a:solidFill>
            <a:srgbClr val="F2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9202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Aptos"/>
              </a:rPr>
              <a:t>0.648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92808"/>
            <a:ext cx="1920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606060"/>
                </a:solidFill>
                <a:latin typeface="Aptos"/>
              </a:rPr>
              <a:t>nearest-neighbor index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417320"/>
            <a:ext cx="2103120" cy="841248"/>
          </a:xfrm>
          <a:prstGeom prst="rect">
            <a:avLst/>
          </a:prstGeom>
          <a:solidFill>
            <a:srgbClr val="F2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508760"/>
            <a:ext cx="19202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30A078"/>
                </a:solidFill>
                <a:latin typeface="Aptos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892808"/>
            <a:ext cx="1920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606060"/>
                </a:solidFill>
                <a:latin typeface="Aptos"/>
              </a:rPr>
              <a:t>largest cluster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417320"/>
            <a:ext cx="2103120" cy="841248"/>
          </a:xfrm>
          <a:prstGeom prst="rect">
            <a:avLst/>
          </a:prstGeom>
          <a:solidFill>
            <a:srgbClr val="F2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508760"/>
            <a:ext cx="19202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F2912C"/>
                </a:solidFill>
                <a:latin typeface="Aptos"/>
              </a:rPr>
              <a:t>$635K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892808"/>
            <a:ext cx="1920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606060"/>
                </a:solidFill>
                <a:latin typeface="Aptos"/>
              </a:rPr>
              <a:t>median listing price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2103120" cy="841248"/>
          </a:xfrm>
          <a:prstGeom prst="rect">
            <a:avLst/>
          </a:prstGeom>
          <a:solidFill>
            <a:srgbClr val="F2F6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508760"/>
            <a:ext cx="19202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Aptos"/>
              </a:rPr>
              <a:t>$3.97M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892808"/>
            <a:ext cx="1920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606060"/>
                </a:solidFill>
                <a:latin typeface="Aptos"/>
              </a:rPr>
              <a:t>mean listing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8892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F1F1F"/>
                </a:solidFill>
                <a:latin typeface="Aptos"/>
              </a:defRPr>
            </a:pPr>
            <a:r>
              <a:t>Colorado Zillow listings in this sample are clustered, especially along the Front Range.</a:t>
            </a:r>
          </a:p>
          <a:p>
            <a:pPr>
              <a:spcAft>
                <a:spcPts val="1000"/>
              </a:spcAft>
              <a:defRPr sz="2000">
                <a:solidFill>
                  <a:srgbClr val="1F1F1F"/>
                </a:solidFill>
                <a:latin typeface="Aptos"/>
              </a:defRPr>
            </a:pPr>
            <a:r>
              <a:t>Location remains important after accounting for home characteristics in regression.</a:t>
            </a:r>
          </a:p>
          <a:p>
            <a:pPr>
              <a:spcAft>
                <a:spcPts val="1000"/>
              </a:spcAft>
              <a:defRPr sz="2000">
                <a:solidFill>
                  <a:srgbClr val="1F1F1F"/>
                </a:solidFill>
                <a:latin typeface="Aptos"/>
              </a:defRPr>
            </a:pPr>
            <a:r>
              <a:t>Residual and cluster maps help identify geographic patterns that are not obvious from tables.</a:t>
            </a:r>
          </a:p>
          <a:p>
            <a:pPr>
              <a:spcAft>
                <a:spcPts val="1000"/>
              </a:spcAft>
              <a:defRPr sz="2000">
                <a:solidFill>
                  <a:srgbClr val="1F1F1F"/>
                </a:solidFill>
                <a:latin typeface="Aptos"/>
              </a:defRPr>
            </a:pPr>
            <a:r>
              <a:t>The project demonstrates how mapping, modeling, and interactive visualization can work together in spatial housing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6473952"/>
            <a:ext cx="1188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06060"/>
                </a:solidFill>
                <a:latin typeface="Aptos"/>
              </a:rPr>
              <a:t>STA6709 Spatial Statistics |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